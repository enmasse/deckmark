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png" ContentType="image/png"/>
  <Default Extension="psmdcp" ContentType="application/vnd.openxmlformats-package.core-properties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ff7ec61b19e4839" /><Relationship Type="http://schemas.openxmlformats.org/package/2006/relationships/metadata/core-properties" Target="/package/services/metadata/core-properties/08c6ce24daba4f4da4c80cff9dd8babd.psmdcp" Id="Rfed0645a6d524206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8d040d70fb4f4519"/>
  </p:sldMasterIdLst>
  <p:sldIdLst>
    <p:sldId id="256" r:id="Re7c39ad342354a21"/>
    <p:sldId id="257" r:id="R4b1ffa30187a4607"/>
    <p:sldId id="258" r:id="R9c76d2bf24e04725"/>
    <p:sldId id="259" r:id="R36c3da80ccad416f"/>
    <p:sldId id="260" r:id="R5ab6d6b24a3d40ec"/>
    <p:sldId id="261" r:id="R2a9ba5d135404e1e"/>
    <p:sldId id="262" r:id="R143eb0a3a0cc4c1a"/>
    <p:sldId id="263" r:id="Rcb8a118af0804cc2"/>
    <p:sldId id="264" r:id="Rf2682b8b0cdd444e"/>
    <p:sldId id="265" r:id="R0826567f93fc43be"/>
    <p:sldId id="266" r:id="Ra61f1d843595429f"/>
    <p:sldId id="267" r:id="R40bc7b030f7c4694"/>
    <p:sldId id="268" r:id="R63ad251789a8410d"/>
    <p:sldId id="269" r:id="Red147dd2a33148e4"/>
    <p:sldId id="270" r:id="Ra32e08348ab54338"/>
    <p:sldId id="271" r:id="Rf80b7b3500144abc"/>
    <p:sldId id="272" r:id="R9b163fd0eb114f9d"/>
  </p:sldIdLst>
  <p:sldSz cx="9144000" cy="51435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d040d70fb4f4519" /><Relationship Type="http://schemas.openxmlformats.org/officeDocument/2006/relationships/slide" Target="/ppt/slides/slide1.xml" Id="Re7c39ad342354a21" /><Relationship Type="http://schemas.openxmlformats.org/officeDocument/2006/relationships/slide" Target="/ppt/slides/slide2.xml" Id="R4b1ffa30187a4607" /><Relationship Type="http://schemas.openxmlformats.org/officeDocument/2006/relationships/slide" Target="/ppt/slides/slide3.xml" Id="R9c76d2bf24e04725" /><Relationship Type="http://schemas.openxmlformats.org/officeDocument/2006/relationships/slide" Target="/ppt/slides/slide4.xml" Id="R36c3da80ccad416f" /><Relationship Type="http://schemas.openxmlformats.org/officeDocument/2006/relationships/slide" Target="/ppt/slides/slide5.xml" Id="R5ab6d6b24a3d40ec" /><Relationship Type="http://schemas.openxmlformats.org/officeDocument/2006/relationships/slide" Target="/ppt/slides/slide6.xml" Id="R2a9ba5d135404e1e" /><Relationship Type="http://schemas.openxmlformats.org/officeDocument/2006/relationships/slide" Target="/ppt/slides/slide7.xml" Id="R143eb0a3a0cc4c1a" /><Relationship Type="http://schemas.openxmlformats.org/officeDocument/2006/relationships/slide" Target="/ppt/slides/slide8.xml" Id="Rcb8a118af0804cc2" /><Relationship Type="http://schemas.openxmlformats.org/officeDocument/2006/relationships/slide" Target="/ppt/slides/slide9.xml" Id="Rf2682b8b0cdd444e" /><Relationship Type="http://schemas.openxmlformats.org/officeDocument/2006/relationships/slide" Target="/ppt/slides/slide10.xml" Id="R0826567f93fc43be" /><Relationship Type="http://schemas.openxmlformats.org/officeDocument/2006/relationships/slide" Target="/ppt/slides/slide11.xml" Id="Ra61f1d843595429f" /><Relationship Type="http://schemas.openxmlformats.org/officeDocument/2006/relationships/slide" Target="/ppt/slides/slide12.xml" Id="R40bc7b030f7c4694" /><Relationship Type="http://schemas.openxmlformats.org/officeDocument/2006/relationships/slide" Target="/ppt/slides/slide13.xml" Id="R63ad251789a8410d" /><Relationship Type="http://schemas.openxmlformats.org/officeDocument/2006/relationships/slide" Target="/ppt/slides/slide14.xml" Id="Red147dd2a33148e4" /><Relationship Type="http://schemas.openxmlformats.org/officeDocument/2006/relationships/slide" Target="/ppt/slides/slide15.xml" Id="Ra32e08348ab54338" /><Relationship Type="http://schemas.openxmlformats.org/officeDocument/2006/relationships/slide" Target="/ppt/slides/slide16.xml" Id="Rf80b7b3500144abc" /><Relationship Type="http://schemas.openxmlformats.org/officeDocument/2006/relationships/slide" Target="/ppt/slides/slide17.xml" Id="R9b163fd0eb114f9d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Notes"/>
          <p:cNvSpPr/>
          <p:nvPr>
            <p:ph type="body"/>
          </p:nvPr>
        </p:nvSpPr>
        <p:spPr/>
        <p:txBody>
          <a:bodyPr/>
          <a:lstStyle/>
          <a:p>
            <a:r>
              <a:rPr lang="en-US"/>
              <a:t>Start with the problem statement: most AI coding tools pull developers out of the terminal. This project keeps the agent in the same workspace.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Notes"/>
          <p:cNvSpPr/>
          <p:nvPr>
            <p:ph type="body"/>
          </p:nvPr>
        </p:nvSpPr>
        <p:spPr/>
        <p:txBody>
          <a:bodyPr/>
          <a:lstStyle/>
          <a:p>
            <a:r>
              <a:rPr lang="en-US"/>
              <a:t>Mention the recent collection-modified issue as an example of why thread ownership and snapshots matter in mixed-UI architectures.</a:t>
            </a:r>
          </a:p>
        </p:txBody>
      </p:sp>
    </p:spTree>
  </p:cSld>
  <p:clrMapOvr>
    <a:masterClrMapping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e3e9c2c4624f7e"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Ovr>
    <a:masterClrMapping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f0284a4a994f9e" /><Relationship Type="http://schemas.openxmlformats.org/officeDocument/2006/relationships/theme" Target="/ppt/slideMasters/theme/theme1.xml" Id="R65f58123f2f44ee8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27f0284a4a994f9e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DeckMark">
  <a:themeElements>
    <a:clrScheme name="DeckMark">
      <a:dk1>
        <a:sysClr val="windowText" lastClr="000000"/>
      </a:dk1>
      <a:lt1>
        <a:sysClr val="window" lastClr="FFFFFF"/>
      </a:lt1>
      <a:dk2>
        <a:srgbClr val="1F3864"/>
      </a:dk2>
      <a:lt2>
        <a:srgbClr val="E9EEF4"/>
      </a:lt2>
      <a:accent1>
        <a:srgbClr val="4472C4"/>
      </a:accent1>
      <a:accent2>
        <a:srgbClr val="ED7D31"/>
      </a:accent2>
      <a:accent3>
        <a:srgbClr val="A9D18E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DeckMark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eckMark">
      <a:fillStyleLst>
        <a:noFill/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noFill/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7d873046664a1d" /><Relationship Type="http://schemas.openxmlformats.org/officeDocument/2006/relationships/notesSlide" Target="/ppt/notesSlides/notesSlide1.xml" Id="Rc2e5461a51b74ef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473523ffdb479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image" Target="/ppt/media/image.png" Id="R62a6090371104edd" /><Relationship Type="http://schemas.openxmlformats.org/officeDocument/2006/relationships/slideLayout" Target="/ppt/slideLayouts/slideLayout1.xml" Id="Ra7ef0ceb6953405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image" Target="/ppt/media/image2.png" Id="Rdcfe67bcfc02452a" /><Relationship Type="http://schemas.openxmlformats.org/officeDocument/2006/relationships/slideLayout" Target="/ppt/slideLayouts/slideLayout1.xml" Id="R8b02ad737fc5463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fbd289e924e3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image" Target="/ppt/media/image3.png" Id="Re1d83afd30e243b1" /><Relationship Type="http://schemas.openxmlformats.org/officeDocument/2006/relationships/slideLayout" Target="/ppt/slideLayouts/slideLayout1.xml" Id="R5c2f64cafa1b441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image" Target="/ppt/media/image4.png" Id="R89cc0ae43ceb4a47" /><Relationship Type="http://schemas.openxmlformats.org/officeDocument/2006/relationships/slideLayout" Target="/ppt/slideLayouts/slideLayout1.xml" Id="Rf771a0729c644d1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00cf93d80f4ec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image" Target="/ppt/media/image5.png" Id="Ra898a47da9714501" /><Relationship Type="http://schemas.openxmlformats.org/officeDocument/2006/relationships/slideLayout" Target="/ppt/slideLayouts/slideLayout1.xml" Id="R4c8117bfd08d4f2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ad302d80f5487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1d0ce9fc1149e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42c5ff84e4a7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2acc871ba43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64c2d465e545db" /><Relationship Type="http://schemas.openxmlformats.org/officeDocument/2006/relationships/notesSlide" Target="/ppt/notesSlides/notesSlide2.xml" Id="R11c8c3af8476446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b90a67b7714a0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9462f2eeefc4a4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fdb35d69ef4efa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AgenticTerminal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342900"/>
          </a:xfrm>
        </p:spPr>
        <p:txBody>
          <a:bodyPr wrap="square">
            <a:normAutofit/>
          </a:bodyPr>
          <a:lstStyle/>
          <a:p>
            <a:r>
              <a:rPr lang="en-US"/>
              <a:t>A terminal-first AI experience for developers who live in the shell.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600200"/>
            <a:ext cx="8229600" cy="13716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Embedded terminal on the left</a:t>
            </a:r>
          </a:p>
          <a:p>
            <a:pPr marL="342900" indent="-342900"/>
            <a:r>
              <a:rPr lang="en-US"/>
              <a:t>• Copilot-driven agent workflow on the right</a:t>
            </a:r>
          </a:p>
          <a:p>
            <a:pPr marL="342900" indent="-342900"/>
            <a:r>
              <a:rPr lang="en-US"/>
              <a:t>• Human approval for shell command execution</a:t>
            </a:r>
          </a:p>
          <a:p>
            <a:pPr marL="342900" indent="-342900"/>
            <a:r>
              <a:rPr lang="en-US"/>
              <a:t>• Conversation persistence across sessions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Why build this?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17145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Developers already live in the terminal.</a:t>
            </a:r>
          </a:p>
          <a:p>
            <a:pPr marL="342900" indent="-342900"/>
            <a:r>
              <a:rPr lang="en-US"/>
              <a:t>• AI helpers often feel detached from the shell they are supposed to guide.</a:t>
            </a:r>
          </a:p>
          <a:p>
            <a:pPr marL="342900" indent="-342900"/>
            <a:r>
              <a:rPr lang="en-US"/>
              <a:t>• Command execution needs an approval boundary.</a:t>
            </a:r>
          </a:p>
          <a:p>
            <a:pPr marL="342900" indent="-342900"/>
            <a:r>
              <a:rPr lang="en-US"/>
              <a:t>• We want visibility into what the agent suggests and runs.</a:t>
            </a:r>
          </a:p>
          <a:p>
            <a:pPr marL="342900" indent="-342900"/>
            <a:r>
              <a:rPr lang="en-US"/>
              <a:t>• We want a workflow that feels closer to a REPL than to a modal chat app.</a:t>
            </a:r>
          </a:p>
        </p:txBody>
      </p:sp>
      <p:sp>
        <p:nvSpPr>
          <p:cNvPr id="4" name="Callout"/>
          <p:cNvSpPr/>
          <p:nvPr/>
        </p:nvSpPr>
        <p:spPr>
          <a:xfrm>
            <a:off x="457200" y="2971800"/>
            <a:ext cx="8229600" cy="1371600"/>
          </a:xfrm>
        </p:spPr>
        <p:txBody>
          <a:bodyPr wrap="square"/>
          <a:lstStyle/>
          <a:p>
            <a:r>
              <a:rPr lang="en-US" b="1"/>
              <a:t>[INFO] Core idea</a:t>
            </a:r>
          </a:p>
          <a:p>
            <a:r>
              <a:rPr lang="en-US"/>
              <a:t>Keep the terminal, the agent, and the approval loop in one place.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What the app does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4023360" cy="35433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Starts an interactive shell session</a:t>
            </a:r>
          </a:p>
          <a:p>
            <a:pPr marL="342900" indent="-342900"/>
            <a:r>
              <a:rPr lang="en-US"/>
              <a:t>• Connects to GitHub Copilot through `GitHub.Copilot.SDK`</a:t>
            </a:r>
          </a:p>
          <a:p>
            <a:pPr marL="342900" indent="-342900"/>
            <a:r>
              <a:rPr lang="en-US"/>
              <a:t>• Sends prompts with terminal context</a:t>
            </a:r>
          </a:p>
          <a:p>
            <a:pPr marL="342900" indent="-342900"/>
            <a:r>
              <a:rPr lang="en-US"/>
              <a:t>• Queues command approvals</a:t>
            </a:r>
          </a:p>
          <a:p>
            <a:pPr marL="342900" indent="-342900"/>
            <a:r>
              <a:rPr lang="en-US"/>
              <a:t>• Persists saved conversations</a:t>
            </a:r>
          </a:p>
          <a:p>
            <a:pPr marL="342900" indent="-342900"/>
            <a:r>
              <a:rPr lang="en-US"/>
              <a:t>• Supports smoke-test automation</a:t>
            </a:r>
          </a:p>
        </p:txBody>
      </p:sp>
      <p:pic>
        <p:nvPicPr>
          <p:cNvPr id="4" name="mermaid"/>
          <p:cNvPicPr>
            <a:picLocks noChangeAspect="1"/>
          </p:cNvPicPr>
          <p:nvPr/>
        </p:nvPicPr>
        <p:blipFill>
          <a:blip r:embed="R62a6090371104edd"/>
          <a:stretch>
            <a:fillRect l="0" t="0" r="0" b="0"/>
          </a:stretch>
        </p:blipFill>
        <p:spPr>
          <a:xfrm>
            <a:off x="4663440" y="1143000"/>
            <a:ext cx="4023360" cy="3543300"/>
          </a:xfrm>
          <a:prstGeom prst="rect"/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High-level architecture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4023360" cy="322118"/>
          </a:xfrm>
        </p:spPr>
        <p:txBody>
          <a:bodyPr wrap="square">
            <a:normAutofit/>
          </a:bodyPr>
          <a:lstStyle/>
          <a:p>
            <a:r>
              <a:rPr lang="en-US" sz="2400" b="1"/>
              <a:t>Main areas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545647"/>
            <a:ext cx="4023360" cy="1449531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`Agent/`</a:t>
            </a:r>
          </a:p>
          <a:p>
            <a:pPr marL="342900" indent="-342900"/>
            <a:r>
              <a:rPr lang="en-US"/>
              <a:t>• `Terminal/`</a:t>
            </a:r>
          </a:p>
          <a:p>
            <a:pPr marL="342900" indent="-342900"/>
            <a:r>
              <a:rPr lang="en-US"/>
              <a:t>• `Approvals/`</a:t>
            </a:r>
          </a:p>
          <a:p>
            <a:pPr marL="342900" indent="-342900"/>
            <a:r>
              <a:rPr lang="en-US"/>
              <a:t>• `Persistence/`</a:t>
            </a:r>
          </a:p>
          <a:p>
            <a:pPr marL="342900" indent="-342900"/>
            <a:r>
              <a:rPr lang="en-US"/>
              <a:t>• `Startup/`</a:t>
            </a:r>
          </a:p>
          <a:p>
            <a:pPr marL="342900" indent="-342900"/>
            <a:r>
              <a:rPr lang="en-US"/>
              <a:t>• `UI/`</a:t>
            </a:r>
          </a:p>
        </p:txBody>
      </p:sp>
      <p:sp>
        <p:nvSpPr>
          <p:cNvPr id="5" name="Content"/>
          <p:cNvSpPr/>
          <p:nvPr/>
        </p:nvSpPr>
        <p:spPr>
          <a:xfrm>
            <a:off x="457200" y="3075707"/>
            <a:ext cx="4023360" cy="322118"/>
          </a:xfrm>
        </p:spPr>
        <p:txBody>
          <a:bodyPr wrap="square">
            <a:normAutofit/>
          </a:bodyPr>
          <a:lstStyle/>
          <a:p>
            <a:r>
              <a:rPr lang="en-US" sz="2400" b="1"/>
              <a:t>Runtime shape</a:t>
            </a:r>
          </a:p>
        </p:txBody>
      </p:sp>
      <p:sp>
        <p:nvSpPr>
          <p:cNvPr id="6" name="Content"/>
          <p:cNvSpPr/>
          <p:nvPr/>
        </p:nvSpPr>
        <p:spPr>
          <a:xfrm>
            <a:off x="457200" y="3478354"/>
            <a:ext cx="4023360" cy="1207943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Hex1b host thread for terminal-first UI</a:t>
            </a:r>
          </a:p>
          <a:p>
            <a:pPr marL="342900" indent="-342900"/>
            <a:r>
              <a:rPr lang="en-US"/>
              <a:t>• Avalonia app for companion panel support</a:t>
            </a:r>
          </a:p>
          <a:p>
            <a:pPr marL="342900" indent="-342900"/>
            <a:r>
              <a:rPr lang="en-US"/>
              <a:t>• Session manager as the orchestration center</a:t>
            </a:r>
          </a:p>
        </p:txBody>
      </p:sp>
      <p:pic>
        <p:nvPicPr>
          <p:cNvPr id="7" name="mermaid"/>
          <p:cNvPicPr>
            <a:picLocks noChangeAspect="1"/>
          </p:cNvPicPr>
          <p:nvPr/>
        </p:nvPicPr>
        <p:blipFill>
          <a:blip r:embed="Rdcfe67bcfc02452a"/>
          <a:stretch>
            <a:fillRect l="0" t="0" r="0" b="0"/>
          </a:stretch>
        </p:blipFill>
        <p:spPr>
          <a:xfrm>
            <a:off x="4663440" y="1143000"/>
            <a:ext cx="4023360" cy="3543300"/>
          </a:xfrm>
          <a:prstGeom prst="rect"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Startup flow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2400300"/>
          </a:xfrm>
        </p:spPr>
        <p:txBody>
          <a:bodyPr wrap="square">
            <a:normAutofit/>
          </a:bodyPr>
          <a:lstStyle/>
          <a:p>
            <a:r>
              <a:rPr lang="en-US"/>
              <a:t>1. The app resolves whether it should run as the full terminal experience or as the `agt` wrapper.</a:t>
            </a:r>
          </a:p>
          <a:p>
            <a:r>
              <a:rPr lang="en-US"/>
              <a:t>2. It loads configuration and startup options.</a:t>
            </a:r>
          </a:p>
          <a:p>
            <a:r>
              <a:rPr lang="en-US"/>
              <a:t>3. It creates the terminal session.</a:t>
            </a:r>
          </a:p>
          <a:p>
            <a:r>
              <a:rPr lang="en-US"/>
              <a:t>4. It creates `CopilotAgentSessionManager`.</a:t>
            </a:r>
          </a:p>
          <a:p>
            <a:r>
              <a:rPr lang="en-US"/>
              <a:t>5. It initializes the application shell.</a:t>
            </a:r>
          </a:p>
          <a:p>
            <a:r>
              <a:rPr lang="en-US"/>
              <a:t>6. It waits for UI readiness, then starts Copilot and loads saved sessions.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Startup flow</a:t>
            </a:r>
          </a:p>
        </p:txBody>
      </p:sp>
      <p:pic>
        <p:nvPicPr>
          <p:cNvPr id="3" name="mermaid"/>
          <p:cNvPicPr>
            <a:picLocks noChangeAspect="1"/>
          </p:cNvPicPr>
          <p:nvPr/>
        </p:nvPicPr>
        <p:blipFill>
          <a:blip r:embed="Re1d83afd30e243b1"/>
          <a:stretch>
            <a:fillRect l="0" t="0" r="0" b="0"/>
          </a:stretch>
        </p:blipFill>
        <p:spPr>
          <a:xfrm>
            <a:off x="457200" y="1143000"/>
            <a:ext cx="8229600" cy="1600000"/>
          </a:xfrm>
          <a:prstGeom prst="rect"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Prompt and approval loop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4023360" cy="322118"/>
          </a:xfrm>
        </p:spPr>
        <p:txBody>
          <a:bodyPr wrap="square">
            <a:normAutofit/>
          </a:bodyPr>
          <a:lstStyle/>
          <a:p>
            <a:r>
              <a:rPr lang="en-US" sz="2400" b="1"/>
              <a:t>Prompt path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545647"/>
            <a:ext cx="4023360" cy="1449531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User enters a prompt.</a:t>
            </a:r>
          </a:p>
          <a:p>
            <a:pPr marL="342900" indent="-342900"/>
            <a:r>
              <a:rPr lang="en-US"/>
              <a:t>• The session manager captures a terminal snapshot.</a:t>
            </a:r>
          </a:p>
          <a:p>
            <a:pPr marL="342900" indent="-342900"/>
            <a:r>
              <a:rPr lang="en-US"/>
              <a:t>• Prompt plus context is sent to Copilot.</a:t>
            </a:r>
          </a:p>
          <a:p>
            <a:pPr marL="342900" indent="-342900"/>
            <a:r>
              <a:rPr lang="en-US"/>
              <a:t>• Responses stream back into the conversation transcript.</a:t>
            </a:r>
          </a:p>
        </p:txBody>
      </p:sp>
      <p:sp>
        <p:nvSpPr>
          <p:cNvPr id="5" name="Content"/>
          <p:cNvSpPr/>
          <p:nvPr/>
        </p:nvSpPr>
        <p:spPr>
          <a:xfrm>
            <a:off x="457200" y="3075707"/>
            <a:ext cx="4023360" cy="322118"/>
          </a:xfrm>
        </p:spPr>
        <p:txBody>
          <a:bodyPr wrap="square">
            <a:normAutofit/>
          </a:bodyPr>
          <a:lstStyle/>
          <a:p>
            <a:r>
              <a:rPr lang="en-US" sz="2400" b="1"/>
              <a:t>Approval path</a:t>
            </a:r>
          </a:p>
        </p:txBody>
      </p:sp>
      <p:sp>
        <p:nvSpPr>
          <p:cNvPr id="6" name="Content"/>
          <p:cNvSpPr/>
          <p:nvPr/>
        </p:nvSpPr>
        <p:spPr>
          <a:xfrm>
            <a:off x="457200" y="3478354"/>
            <a:ext cx="4023360" cy="1207943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Agent proposes a shell command.</a:t>
            </a:r>
          </a:p>
          <a:p>
            <a:pPr marL="342900" indent="-342900"/>
            <a:r>
              <a:rPr lang="en-US"/>
              <a:t>• The command enters the approval queue.</a:t>
            </a:r>
          </a:p>
          <a:p>
            <a:pPr marL="342900" indent="-342900"/>
            <a:r>
              <a:rPr lang="en-US"/>
              <a:t>• The user approves or denies execution.</a:t>
            </a:r>
          </a:p>
          <a:p>
            <a:pPr marL="342900" indent="-342900"/>
            <a:r>
              <a:rPr lang="en-US"/>
              <a:t>• Approved commands run in the terminal session.</a:t>
            </a:r>
          </a:p>
        </p:txBody>
      </p:sp>
      <p:pic>
        <p:nvPicPr>
          <p:cNvPr id="7" name="mermaid"/>
          <p:cNvPicPr>
            <a:picLocks noChangeAspect="1"/>
          </p:cNvPicPr>
          <p:nvPr/>
        </p:nvPicPr>
        <p:blipFill>
          <a:blip r:embed="R89cc0ae43ceb4a47"/>
          <a:stretch>
            <a:fillRect l="0" t="0" r="0" b="0"/>
          </a:stretch>
        </p:blipFill>
        <p:spPr>
          <a:xfrm>
            <a:off x="4663440" y="1143000"/>
            <a:ext cx="4023360" cy="3543300"/>
          </a:xfrm>
          <a:prstGeom prst="rect"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Wrapper and backchannel design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685800"/>
          </a:xfrm>
        </p:spPr>
        <p:txBody>
          <a:bodyPr wrap="square">
            <a:normAutofit/>
          </a:bodyPr>
          <a:lstStyle/>
          <a:p>
            <a:r>
              <a:rPr lang="en-US"/>
              <a:t>The wrapper mode exists so the agent can run visible shell commands while still reporting lifecycle events back to the app.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943100"/>
            <a:ext cx="8229600" cy="17145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The wrapper executable name is short and shell-friendly: `agt`</a:t>
            </a:r>
          </a:p>
          <a:p>
            <a:pPr marL="342900" indent="-342900"/>
            <a:r>
              <a:rPr lang="en-US"/>
              <a:t>• Backchannel events are defined with protobuf</a:t>
            </a:r>
          </a:p>
          <a:p>
            <a:pPr marL="342900" indent="-342900"/>
            <a:r>
              <a:rPr lang="en-US"/>
              <a:t>• Commands can report start and completion details</a:t>
            </a:r>
          </a:p>
          <a:p>
            <a:pPr marL="342900" indent="-342900"/>
            <a:r>
              <a:rPr lang="en-US"/>
              <a:t>• Output tails can be queried later for context and diagnostics</a:t>
            </a:r>
          </a:p>
          <a:p>
            <a:pPr marL="342900" indent="-342900"/>
            <a:r>
              <a:rPr lang="en-US"/>
              <a:t>• The protocol leaves room for future expansion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Wrapper and backchannel design</a:t>
            </a:r>
          </a:p>
        </p:txBody>
      </p:sp>
      <p:pic>
        <p:nvPicPr>
          <p:cNvPr id="3" name="mermaid"/>
          <p:cNvPicPr>
            <a:picLocks noChangeAspect="1"/>
          </p:cNvPicPr>
          <p:nvPr/>
        </p:nvPicPr>
        <p:blipFill>
          <a:blip r:embed="Ra898a47da9714501"/>
          <a:stretch>
            <a:fillRect l="0" t="0" r="0" b="0"/>
          </a:stretch>
        </p:blipFill>
        <p:spPr>
          <a:xfrm>
            <a:off x="457200" y="1143000"/>
            <a:ext cx="8229600" cy="1600000"/>
          </a:xfrm>
          <a:prstGeom prst="rect"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UI model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4023360" cy="545123"/>
          </a:xfrm>
        </p:spPr>
        <p:txBody>
          <a:bodyPr wrap="square">
            <a:normAutofit/>
          </a:bodyPr>
          <a:lstStyle/>
          <a:p>
            <a:r>
              <a:rPr lang="en-US" sz="2400" b="1"/>
              <a:t>User experience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824403"/>
            <a:ext cx="4023360" cy="2861896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Terminal pane on the left</a:t>
            </a:r>
          </a:p>
          <a:p>
            <a:pPr marL="342900" indent="-342900"/>
            <a:r>
              <a:rPr lang="en-US"/>
              <a:t>• Agent interaction pane on the right</a:t>
            </a:r>
          </a:p>
          <a:p>
            <a:pPr marL="342900" indent="-342900"/>
            <a:r>
              <a:rPr lang="en-US"/>
              <a:t>• Function-key shortcuts for terminal-safe global actions</a:t>
            </a:r>
          </a:p>
          <a:p>
            <a:pPr marL="342900" indent="-342900"/>
            <a:r>
              <a:rPr lang="en-US"/>
              <a:t>• Compact approval and status text</a:t>
            </a:r>
          </a:p>
          <a:p>
            <a:pPr marL="342900" indent="-342900"/>
            <a:r>
              <a:rPr lang="en-US"/>
              <a:t>• Session list and model picker integrated into the shell UI</a:t>
            </a:r>
          </a:p>
        </p:txBody>
      </p:sp>
      <p:sp>
        <p:nvSpPr>
          <p:cNvPr id="5" name="Content"/>
          <p:cNvSpPr/>
          <p:nvPr/>
        </p:nvSpPr>
        <p:spPr>
          <a:xfrm>
            <a:off x="4663440" y="1143000"/>
            <a:ext cx="4023360" cy="472440"/>
          </a:xfrm>
        </p:spPr>
        <p:txBody>
          <a:bodyPr wrap="square">
            <a:normAutofit/>
          </a:bodyPr>
          <a:lstStyle/>
          <a:p>
            <a:r>
              <a:rPr lang="en-US" sz="2400" b="1"/>
              <a:t>Technology choices</a:t>
            </a:r>
          </a:p>
        </p:txBody>
      </p:sp>
      <p:sp>
        <p:nvSpPr>
          <p:cNvPr id="6" name="Content"/>
          <p:cNvSpPr/>
          <p:nvPr/>
        </p:nvSpPr>
        <p:spPr>
          <a:xfrm>
            <a:off x="4663440" y="1733550"/>
            <a:ext cx="4023360" cy="212598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.NET 10</a:t>
            </a:r>
          </a:p>
          <a:p>
            <a:pPr marL="342900" indent="-342900"/>
            <a:r>
              <a:rPr lang="en-US"/>
              <a:t>• Hex1b for terminal-style UI</a:t>
            </a:r>
          </a:p>
          <a:p>
            <a:pPr marL="342900" indent="-342900"/>
            <a:r>
              <a:rPr lang="en-US"/>
              <a:t>• Avalonia for companion UI pieces</a:t>
            </a:r>
          </a:p>
          <a:p>
            <a:pPr marL="342900" indent="-342900"/>
            <a:r>
              <a:rPr lang="en-US"/>
              <a:t>• `GitHub.Copilot.SDK` for agent integration</a:t>
            </a:r>
          </a:p>
          <a:p>
            <a:pPr marL="342900" indent="-342900"/>
            <a:r>
              <a:rPr lang="en-US"/>
              <a:t>• PTY-backed terminal session support</a:t>
            </a:r>
          </a:p>
        </p:txBody>
      </p:sp>
      <p:sp>
        <p:nvSpPr>
          <p:cNvPr id="7" name="Content"/>
          <p:cNvSpPr/>
          <p:nvPr/>
        </p:nvSpPr>
        <p:spPr>
          <a:xfrm>
            <a:off x="4663440" y="3977640"/>
            <a:ext cx="4023360" cy="708660"/>
          </a:xfrm>
        </p:spPr>
        <p:txBody>
          <a:bodyPr wrap="square">
            <a:normAutofit/>
          </a:bodyPr>
          <a:lstStyle/>
          <a:p>
            <a:r>
              <a:rPr lang="en-US"/>
              <a:t>&gt; The project favors terminal-native interaction over fake modal dialogs.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Persistence and test strategy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4023360" cy="345687"/>
          </a:xfrm>
        </p:spPr>
        <p:txBody>
          <a:bodyPr wrap="square">
            <a:normAutofit/>
          </a:bodyPr>
          <a:lstStyle/>
          <a:p>
            <a:r>
              <a:rPr lang="en-US" sz="2400" b="1"/>
              <a:t>Persistence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1575108"/>
            <a:ext cx="4023360" cy="1555595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Conversations are stored as saved sessions.</a:t>
            </a:r>
          </a:p>
          <a:p>
            <a:pPr marL="342900" indent="-342900"/>
            <a:r>
              <a:rPr lang="en-US"/>
              <a:t>• Existing sessions are loaded during startup.</a:t>
            </a:r>
          </a:p>
          <a:p>
            <a:pPr marL="342900" indent="-342900"/>
            <a:r>
              <a:rPr lang="en-US"/>
              <a:t>• Session summaries support quick reopening.</a:t>
            </a:r>
          </a:p>
        </p:txBody>
      </p:sp>
      <p:sp>
        <p:nvSpPr>
          <p:cNvPr id="5" name="Content"/>
          <p:cNvSpPr/>
          <p:nvPr/>
        </p:nvSpPr>
        <p:spPr>
          <a:xfrm>
            <a:off x="457200" y="3217124"/>
            <a:ext cx="4023360" cy="345687"/>
          </a:xfrm>
        </p:spPr>
        <p:txBody>
          <a:bodyPr wrap="square">
            <a:normAutofit/>
          </a:bodyPr>
          <a:lstStyle/>
          <a:p>
            <a:r>
              <a:rPr lang="en-US" sz="2400" b="1"/>
              <a:t>Observability</a:t>
            </a:r>
          </a:p>
        </p:txBody>
      </p:sp>
      <p:sp>
        <p:nvSpPr>
          <p:cNvPr id="6" name="Content"/>
          <p:cNvSpPr/>
          <p:nvPr/>
        </p:nvSpPr>
        <p:spPr>
          <a:xfrm>
            <a:off x="457200" y="3649232"/>
            <a:ext cx="4023360" cy="1037063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Prompt timing is tracked.</a:t>
            </a:r>
          </a:p>
          <a:p>
            <a:pPr marL="342900" indent="-342900"/>
            <a:r>
              <a:rPr lang="en-US"/>
              <a:t>• Tool activity is surfaced.</a:t>
            </a:r>
          </a:p>
          <a:p>
            <a:pPr marL="342900" indent="-342900"/>
            <a:r>
              <a:rPr lang="en-US"/>
              <a:t>• Smoke-test mode validates startup and basic agent behavior.</a:t>
            </a:r>
          </a:p>
        </p:txBody>
      </p:sp>
      <p:sp>
        <p:nvSpPr>
          <p:cNvPr id="7" name="Content"/>
          <p:cNvSpPr/>
          <p:nvPr/>
        </p:nvSpPr>
        <p:spPr>
          <a:xfrm>
            <a:off x="4663440" y="1143000"/>
            <a:ext cx="4023360" cy="545123"/>
          </a:xfrm>
        </p:spPr>
        <p:txBody>
          <a:bodyPr wrap="square">
            <a:normAutofit/>
          </a:bodyPr>
          <a:lstStyle/>
          <a:p>
            <a:r>
              <a:rPr lang="en-US" sz="2400" b="1"/>
              <a:t>Testing</a:t>
            </a:r>
          </a:p>
        </p:txBody>
      </p:sp>
      <p:sp>
        <p:nvSpPr>
          <p:cNvPr id="8" name="Content"/>
          <p:cNvSpPr/>
          <p:nvPr/>
        </p:nvSpPr>
        <p:spPr>
          <a:xfrm>
            <a:off x="4663440" y="1824403"/>
            <a:ext cx="4023360" cy="2861896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xUnit test project</a:t>
            </a:r>
          </a:p>
          <a:p>
            <a:pPr marL="342900" indent="-342900"/>
            <a:r>
              <a:rPr lang="en-US"/>
              <a:t>• terminal capture parsing tests</a:t>
            </a:r>
          </a:p>
          <a:p>
            <a:pPr marL="342900" indent="-342900"/>
            <a:r>
              <a:rPr lang="en-US"/>
              <a:t>• PTY integration tests with a fake host</a:t>
            </a:r>
          </a:p>
          <a:p>
            <a:pPr marL="342900" indent="-342900"/>
            <a:r>
              <a:rPr lang="en-US"/>
              <a:t>• startup and configuration tests</a:t>
            </a:r>
          </a:p>
          <a:p>
            <a:pPr marL="342900" indent="-342900"/>
            <a:r>
              <a:rPr lang="en-US"/>
              <a:t>• persistence tests</a:t>
            </a:r>
          </a:p>
          <a:p>
            <a:pPr marL="342900" indent="-342900"/>
            <a:r>
              <a:rPr lang="en-US"/>
              <a:t>• UI formatting tests</a:t>
            </a:r>
          </a:p>
          <a:p>
            <a:pPr marL="342900" indent="-342900"/>
            <a:r>
              <a:rPr lang="en-US"/>
              <a:t>• interaction automation tests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Interesting .NET choices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20574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Uses `net10.0` and modern C# features.</a:t>
            </a:r>
          </a:p>
          <a:p>
            <a:pPr marL="342900" indent="-342900"/>
            <a:r>
              <a:rPr lang="en-US"/>
              <a:t>• Blends terminal UI and desktop UI in one application.</a:t>
            </a:r>
          </a:p>
          <a:p>
            <a:pPr marL="342900" indent="-342900"/>
            <a:r>
              <a:rPr lang="en-US"/>
              <a:t>• Uses async orchestration heavily across startup, prompts, approvals, and terminal execution.</a:t>
            </a:r>
          </a:p>
          <a:p>
            <a:pPr marL="342900" indent="-342900"/>
            <a:r>
              <a:rPr lang="en-US"/>
              <a:t>• Uses generated protobuf types for the command backchannel.</a:t>
            </a:r>
          </a:p>
          <a:p>
            <a:pPr marL="342900" indent="-342900"/>
            <a:r>
              <a:rPr lang="en-US"/>
              <a:t>• Keeps the domain split into focused folders rather than one large service class.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Interesting .NET choices</a:t>
            </a:r>
          </a:p>
        </p:txBody>
      </p:sp>
      <p:sp>
        <p:nvSpPr>
          <p:cNvPr id="3" name="CodeBlock"/>
          <p:cNvSpPr/>
          <p:nvPr/>
        </p:nvSpPr>
        <p:spPr>
          <a:xfrm>
            <a:off x="457200" y="1143000"/>
            <a:ext cx="8229600" cy="3086100"/>
          </a:xfrm>
          <a:prstGeom prst="rect"/>
          <a:solidFill>
            <a:srgbClr val="F2F2F2"/>
          </a:solidFill>
        </p:spPr>
        <p:txBody>
          <a:bodyPr wrap="square" lIns="182880" tIns="91440" rIns="182880" bIns="91440" anchor="t">
            <a:noAutofit/>
          </a:bodyPr>
          <a:lstStyle>
            <a:defPPr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defPPr>
          </a:lstStyle>
          <a:p>
            <a:pPr>
              <a:lnSpc>
                <a:spcPts val="1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1400" dirty="0">
                <a:latin typeface="Consolas"/>
              </a:rPr>
              <a:t>await using var sessionManager = new CopilotAgentSessionManager(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approvalQueue,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conversationSessionStore,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terminalSession,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Environment.CurrentDirectory,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options.CopilotModel,
</a:t>
            </a:r>
            <a:br>
              <a:rPr lang="en-US" sz="1400" dirty="0">
                <a:latin typeface="Consolas"/>
              </a:rPr>
            </a:br>
            <a:r>
              <a:rPr lang="en-US" sz="1400" dirty="0">
                <a:latin typeface="Consolas"/>
              </a:rPr>
              <a:t>    new CopilotSessionOptions(...));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100"/>
              <a:t>Current challenges and lessons learned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27432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Terminal-first UX is powerful, but cross-thread UI updates require discipline.</a:t>
            </a:r>
          </a:p>
          <a:p>
            <a:pPr marL="342900" indent="-342900"/>
            <a:r>
              <a:rPr lang="en-US"/>
              <a:t>• Input handling is harder than it looks, especially around dead keys and composed input.</a:t>
            </a:r>
          </a:p>
          <a:p>
            <a:pPr marL="342900" indent="-342900"/>
            <a:r>
              <a:rPr lang="en-US"/>
              <a:t>• Approval UX must stay fast without hiding important command details.</a:t>
            </a:r>
          </a:p>
          <a:p>
            <a:pPr marL="342900" indent="-342900"/>
            <a:r>
              <a:rPr lang="en-US"/>
              <a:t>• AI integration needs strong fallback paths, timeouts, and transparent status text.</a:t>
            </a:r>
          </a:p>
          <a:p>
            <a:pPr marL="342900" indent="-342900"/>
            <a:r>
              <a:rPr lang="en-US"/>
              <a:t>• Testability improves when terminal, persistence, and startup concerns are abstracted early.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Where this could go next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20574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Richer REPL-style history interaction</a:t>
            </a:r>
          </a:p>
          <a:p>
            <a:pPr marL="342900" indent="-342900"/>
            <a:r>
              <a:rPr lang="en-US"/>
              <a:t>• More polished model selection and quota insights</a:t>
            </a:r>
          </a:p>
          <a:p>
            <a:pPr marL="342900" indent="-342900"/>
            <a:r>
              <a:rPr lang="en-US"/>
              <a:t>• Expanded backchannel protocol for pipeline reporting</a:t>
            </a:r>
          </a:p>
          <a:p>
            <a:pPr marL="342900" indent="-342900"/>
            <a:r>
              <a:rPr lang="en-US"/>
              <a:t>• Better diagnostics around terminal and agent timing</a:t>
            </a:r>
          </a:p>
          <a:p>
            <a:pPr marL="342900" indent="-342900"/>
            <a:r>
              <a:rPr lang="en-US"/>
              <a:t>• More cross-platform terminal hosting options</a:t>
            </a:r>
          </a:p>
          <a:p>
            <a:pPr marL="342900" indent="-342900"/>
            <a:r>
              <a:rPr lang="en-US"/>
              <a:t>• Packaging for easier community adoption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Takeaways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2057400"/>
          </a:xfrm>
        </p:spPr>
        <p:txBody>
          <a:bodyPr wrap="square">
            <a:normAutofit/>
          </a:bodyPr>
          <a:lstStyle/>
          <a:p>
            <a:pPr marL="342900" indent="-342900"/>
            <a:r>
              <a:rPr lang="en-US"/>
              <a:t>• AI workflows get better when they stay close to the developer's real environment.</a:t>
            </a:r>
          </a:p>
          <a:p>
            <a:pPr marL="342900" indent="-342900"/>
            <a:r>
              <a:rPr lang="en-US"/>
              <a:t>• .NET is a strong fit for combining terminal integration, desktop UI, async orchestration, and testing.</a:t>
            </a:r>
          </a:p>
          <a:p>
            <a:pPr marL="342900" indent="-342900"/>
            <a:r>
              <a:rPr lang="en-US"/>
              <a:t>• AgenticTerminal is a practical experiment in keeping humans in control while still benefiting from agent assistance.</a:t>
            </a:r>
          </a:p>
        </p:txBody>
      </p:sp>
      <p:sp>
        <p:nvSpPr>
          <p:cNvPr id="4" name="Content"/>
          <p:cNvSpPr/>
          <p:nvPr/>
        </p:nvSpPr>
        <p:spPr>
          <a:xfrm>
            <a:off x="457200" y="3314700"/>
            <a:ext cx="8229600" cy="342900"/>
          </a:xfrm>
        </p:spPr>
        <p:txBody>
          <a:bodyPr wrap="square">
            <a:normAutofit/>
          </a:bodyPr>
          <a:lstStyle/>
          <a:p>
            <a:r>
              <a:rPr lang="en-US"/>
              <a:t>Thank you.</a:t>
            </a:r>
          </a:p>
        </p:txBody>
      </p:sp>
      <p:sp>
        <p:nvSpPr>
          <p:cNvPr id="5" name="Content"/>
          <p:cNvSpPr/>
          <p:nvPr/>
        </p:nvSpPr>
        <p:spPr>
          <a:xfrm>
            <a:off x="457200" y="3771900"/>
            <a:ext cx="8229600" cy="457200"/>
          </a:xfrm>
        </p:spPr>
        <p:txBody>
          <a:bodyPr wrap="square">
            <a:normAutofit/>
          </a:bodyPr>
          <a:lstStyle/>
          <a:p>
            <a:r>
              <a:rPr lang="en-US" sz="2400" b="1"/>
              <a:t>Discussion topics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 lang="en-US" sz="3600"/>
              <a:t>Takeaways</a:t>
            </a:r>
          </a:p>
        </p:txBody>
      </p:sp>
      <p:sp>
        <p:nvSpPr>
          <p:cNvPr id="3" name="Content"/>
          <p:cNvSpPr/>
          <p:nvPr/>
        </p:nvSpPr>
        <p:spPr>
          <a:xfrm>
            <a:off x="457200" y="1143000"/>
            <a:ext cx="8229600" cy="1028700"/>
          </a:xfrm>
        </p:spPr>
        <p:txBody>
          <a:bodyPr wrap="square">
            <a:normAutofit/>
          </a:bodyPr>
          <a:lstStyle/>
          <a:p>
            <a:r>
              <a:rPr lang="en-US"/>
              <a:t>1. How much approval should an agent need?</a:t>
            </a:r>
          </a:p>
          <a:p>
            <a:r>
              <a:rPr lang="en-US"/>
              <a:t>2. What makes a terminal-native AI UX feel trustworthy?</a:t>
            </a:r>
          </a:p>
          <a:p>
            <a:r>
              <a:rPr lang="en-US"/>
              <a:t>3. Where would you take this architecture next?</a:t>
            </a:r>
          </a:p>
        </p:txBody>
      </p:sp>
    </p:spTree>
  </p:cSld>
  <p:clrMapOvr>
    <a:masterClrMapping/>
  </p:clrMapOvr>
</p:sld>
</file>