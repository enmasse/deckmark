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bafffe050a14894" /><Relationship Type="http://schemas.openxmlformats.org/package/2006/relationships/metadata/core-properties" Target="/package/services/metadata/core-properties/f68fed58cf3842e78f09dd5a6f8a1857.psmdcp" Id="Rd418ee4bdac54a45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cd08a4dae2ef45b0"/>
  </p:sldMasterIdLst>
  <p:sldIdLst>
    <p:sldId id="256" r:id="R522e620d75b64d57"/>
    <p:sldId id="257" r:id="R5914bc9e8a184a87"/>
    <p:sldId id="258" r:id="R491542ab565f45f8"/>
    <p:sldId id="259" r:id="Rb0b1fa1db0eb448e"/>
    <p:sldId id="260" r:id="R86d4f5533b354cc1"/>
    <p:sldId id="261" r:id="R120af9df0ccd40ec"/>
    <p:sldId id="262" r:id="R55cf47c3511e483b"/>
    <p:sldId id="263" r:id="Rd9b125209e14449e"/>
    <p:sldId id="264" r:id="R6738bcf30bcc4180"/>
    <p:sldId id="265" r:id="R4683909d421a4a1b"/>
    <p:sldId id="266" r:id="R98c90f7b7a664ce9"/>
    <p:sldId id="267" r:id="R38711e14ee624b0c"/>
    <p:sldId id="268" r:id="Rdad285e2b98c41d3"/>
    <p:sldId id="269" r:id="R86602bfc810c48e9"/>
    <p:sldId id="270" r:id="R202598f27b7543cc"/>
    <p:sldId id="271" r:id="R89f07a7083ff4558"/>
    <p:sldId id="272" r:id="R61ee6fa374a74904"/>
  </p:sldIdLst>
  <p:sldSz cx="9144000" cy="51435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8a4dae2ef45b0" /><Relationship Type="http://schemas.openxmlformats.org/officeDocument/2006/relationships/slide" Target="/ppt/slides/slide1.xml" Id="R522e620d75b64d57" /><Relationship Type="http://schemas.openxmlformats.org/officeDocument/2006/relationships/slide" Target="/ppt/slides/slide2.xml" Id="R5914bc9e8a184a87" /><Relationship Type="http://schemas.openxmlformats.org/officeDocument/2006/relationships/slide" Target="/ppt/slides/slide3.xml" Id="R491542ab565f45f8" /><Relationship Type="http://schemas.openxmlformats.org/officeDocument/2006/relationships/slide" Target="/ppt/slides/slide4.xml" Id="Rb0b1fa1db0eb448e" /><Relationship Type="http://schemas.openxmlformats.org/officeDocument/2006/relationships/slide" Target="/ppt/slides/slide5.xml" Id="R86d4f5533b354cc1" /><Relationship Type="http://schemas.openxmlformats.org/officeDocument/2006/relationships/slide" Target="/ppt/slides/slide6.xml" Id="R120af9df0ccd40ec" /><Relationship Type="http://schemas.openxmlformats.org/officeDocument/2006/relationships/slide" Target="/ppt/slides/slide7.xml" Id="R55cf47c3511e483b" /><Relationship Type="http://schemas.openxmlformats.org/officeDocument/2006/relationships/slide" Target="/ppt/slides/slide8.xml" Id="Rd9b125209e14449e" /><Relationship Type="http://schemas.openxmlformats.org/officeDocument/2006/relationships/slide" Target="/ppt/slides/slide9.xml" Id="R6738bcf30bcc4180" /><Relationship Type="http://schemas.openxmlformats.org/officeDocument/2006/relationships/slide" Target="/ppt/slides/slide10.xml" Id="R4683909d421a4a1b" /><Relationship Type="http://schemas.openxmlformats.org/officeDocument/2006/relationships/slide" Target="/ppt/slides/slide11.xml" Id="R98c90f7b7a664ce9" /><Relationship Type="http://schemas.openxmlformats.org/officeDocument/2006/relationships/slide" Target="/ppt/slides/slide12.xml" Id="R38711e14ee624b0c" /><Relationship Type="http://schemas.openxmlformats.org/officeDocument/2006/relationships/slide" Target="/ppt/slides/slide13.xml" Id="Rdad285e2b98c41d3" /><Relationship Type="http://schemas.openxmlformats.org/officeDocument/2006/relationships/slide" Target="/ppt/slides/slide14.xml" Id="R86602bfc810c48e9" /><Relationship Type="http://schemas.openxmlformats.org/officeDocument/2006/relationships/slide" Target="/ppt/slides/slide15.xml" Id="R202598f27b7543cc" /><Relationship Type="http://schemas.openxmlformats.org/officeDocument/2006/relationships/slide" Target="/ppt/slides/slide16.xml" Id="R89f07a7083ff4558" /><Relationship Type="http://schemas.openxmlformats.org/officeDocument/2006/relationships/slide" Target="/ppt/slides/slide17.xml" Id="R61ee6fa374a74904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Start with the problem statement: most AI coding tools pull developers out of the terminal. This project keeps the agent in the same workspace.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Mention the recent collection-modified issue as an example of why thread ownership and snapshots matter in mixed-UI architectures.</a:t>
            </a: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d97e30f08491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1b40d968e4111" /><Relationship Type="http://schemas.openxmlformats.org/officeDocument/2006/relationships/theme" Target="/ppt/slideMasters/theme/theme1.xml" Id="R0b4776be53b04afa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0111b40d968e411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DeckMark">
  <a:themeElements>
    <a:clrScheme name="DeckMark">
      <a:dk1>
        <a:sysClr val="windowText" lastClr="000000"/>
      </a:dk1>
      <a:lt1>
        <a:sysClr val="window" lastClr="FFFFFF"/>
      </a:lt1>
      <a:dk2>
        <a:srgbClr val="1F3864"/>
      </a:dk2>
      <a:lt2>
        <a:srgbClr val="E9EEF4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ckMar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ckMark">
      <a:fillStyleLst>
        <a:noFill/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noFill/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8b65e957e4b7b" /><Relationship Type="http://schemas.openxmlformats.org/officeDocument/2006/relationships/notesSlide" Target="/ppt/notesSlides/notesSlide1.xml" Id="Ra3b6324f9faa49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cf7edbb604b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png" Id="R86cccb280cf64869" /><Relationship Type="http://schemas.openxmlformats.org/officeDocument/2006/relationships/slideLayout" Target="/ppt/slideLayouts/slideLayout1.xml" Id="R61439d3b632e42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.png" Id="R06a422e08c3e47b2" /><Relationship Type="http://schemas.openxmlformats.org/officeDocument/2006/relationships/slideLayout" Target="/ppt/slideLayouts/slideLayout1.xml" Id="R47683b241c884b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6ff8f9cde49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3.png" Id="Re304135a209244e9" /><Relationship Type="http://schemas.openxmlformats.org/officeDocument/2006/relationships/slideLayout" Target="/ppt/slideLayouts/slideLayout1.xml" Id="R5e8e5703cded48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4.png" Id="Rc4c7385c980d4822" /><Relationship Type="http://schemas.openxmlformats.org/officeDocument/2006/relationships/slideLayout" Target="/ppt/slideLayouts/slideLayout1.xml" Id="Ra7db9e01334a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694dfeefb4b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5.png" Id="Rae66582c6f1f4712" /><Relationship Type="http://schemas.openxmlformats.org/officeDocument/2006/relationships/slideLayout" Target="/ppt/slideLayouts/slideLayout1.xml" Id="R1ca8d9bcd89e47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6635ff0454b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c89dfb9fb4f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619fbacf94e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30155425d40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8a8cc84724ddd" /><Relationship Type="http://schemas.openxmlformats.org/officeDocument/2006/relationships/notesSlide" Target="/ppt/notesSlides/notesSlide2.xml" Id="R2f5e0afc3f414f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36e4127c44c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48e830f1445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c4ddd66494eb3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AgenticTerminal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342900"/>
          </a:xfrm>
        </p:spPr>
        <p:txBody>
          <a:bodyPr wrap="square">
            <a:normAutofit/>
          </a:bodyPr>
          <a:lstStyle/>
          <a:p>
            <a:r>
              <a:rPr lang="en-US"/>
              <a:t>A terminal-first AI experience for developers who live in the shell.</a:t>
            </a:r>
          </a:p>
        </p:txBody>
      </p:sp>
      <p:sp>
        <p:nvSpPr>
          <p:cNvPr id="4" name="Content"/>
          <p:cNvSpPr/>
          <p:nvPr/>
        </p:nvSpPr>
        <p:spPr>
          <a:xfrm>
            <a:off x="457200" y="1600200"/>
            <a:ext cx="8229600" cy="13716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Embedded terminal on the left</a:t>
            </a:r>
          </a:p>
          <a:p>
            <a:pPr marL="342900" indent="-342900"/>
            <a:r>
              <a:rPr lang="en-US"/>
              <a:t>• Copilot-driven agent workflow on the right</a:t>
            </a:r>
          </a:p>
          <a:p>
            <a:pPr marL="342900" indent="-342900"/>
            <a:r>
              <a:rPr lang="en-US"/>
              <a:t>• Human approval for shell command execution</a:t>
            </a:r>
          </a:p>
          <a:p>
            <a:pPr marL="342900" indent="-342900"/>
            <a:r>
              <a:rPr lang="en-US"/>
              <a:t>• Conversation persistence across sessions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Why build this?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17145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Developers already live in the terminal.</a:t>
            </a:r>
          </a:p>
          <a:p>
            <a:pPr marL="342900" indent="-342900"/>
            <a:r>
              <a:rPr lang="en-US"/>
              <a:t>• AI helpers often feel detached from the shell they are supposed to guide.</a:t>
            </a:r>
          </a:p>
          <a:p>
            <a:pPr marL="342900" indent="-342900"/>
            <a:r>
              <a:rPr lang="en-US"/>
              <a:t>• Command execution needs an approval boundary.</a:t>
            </a:r>
          </a:p>
          <a:p>
            <a:pPr marL="342900" indent="-342900"/>
            <a:r>
              <a:rPr lang="en-US"/>
              <a:t>• We want visibility into what the agent suggests and runs.</a:t>
            </a:r>
          </a:p>
          <a:p>
            <a:pPr marL="342900" indent="-342900"/>
            <a:r>
              <a:rPr lang="en-US"/>
              <a:t>• We want a workflow that feels closer to a REPL than to a modal chat app.</a:t>
            </a:r>
          </a:p>
        </p:txBody>
      </p:sp>
      <p:sp>
        <p:nvSpPr>
          <p:cNvPr id="4" name="Callout"/>
          <p:cNvSpPr/>
          <p:nvPr/>
        </p:nvSpPr>
        <p:spPr>
          <a:xfrm>
            <a:off x="457200" y="2971800"/>
            <a:ext cx="8229600" cy="1371600"/>
          </a:xfrm>
        </p:spPr>
        <p:txBody>
          <a:bodyPr wrap="square"/>
          <a:lstStyle/>
          <a:p>
            <a:r>
              <a:rPr lang="en-US" b="1"/>
              <a:t>[INFO] Core idea</a:t>
            </a:r>
          </a:p>
          <a:p>
            <a:r>
              <a:rPr lang="en-US"/>
              <a:t>Keep the terminal, the agent, and the approval loop in one place.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What the app does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4023360" cy="35433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Starts an interactive shell session</a:t>
            </a:r>
          </a:p>
          <a:p>
            <a:pPr marL="342900" indent="-342900"/>
            <a:r>
              <a:rPr lang="en-US"/>
              <a:t>• Connects to GitHub Copilot through `GitHub.Copilot.SDK`</a:t>
            </a:r>
          </a:p>
          <a:p>
            <a:pPr marL="342900" indent="-342900"/>
            <a:r>
              <a:rPr lang="en-US"/>
              <a:t>• Sends prompts with terminal context</a:t>
            </a:r>
          </a:p>
          <a:p>
            <a:pPr marL="342900" indent="-342900"/>
            <a:r>
              <a:rPr lang="en-US"/>
              <a:t>• Queues command approvals</a:t>
            </a:r>
          </a:p>
          <a:p>
            <a:pPr marL="342900" indent="-342900"/>
            <a:r>
              <a:rPr lang="en-US"/>
              <a:t>• Persists saved conversations</a:t>
            </a:r>
          </a:p>
          <a:p>
            <a:pPr marL="342900" indent="-342900"/>
            <a:r>
              <a:rPr lang="en-US"/>
              <a:t>• Supports smoke-test automation</a:t>
            </a:r>
          </a:p>
        </p:txBody>
      </p:sp>
      <p:pic>
        <p:nvPicPr>
          <p:cNvPr id="4" name="mermaid"/>
          <p:cNvPicPr>
            <a:picLocks noChangeAspect="1"/>
          </p:cNvPicPr>
          <p:nvPr/>
        </p:nvPicPr>
        <p:blipFill>
          <a:blip r:embed="R86cccb280cf64869"/>
          <a:stretch>
            <a:fillRect l="0" t="0" r="0" b="0"/>
          </a:stretch>
        </p:blipFill>
        <p:spPr>
          <a:xfrm>
            <a:off x="4663440" y="1143000"/>
            <a:ext cx="4023360" cy="3543300"/>
          </a:xfrm>
          <a:prstGeom prst="rect"/>
        </p:spPr>
      </p:pic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High-level architecture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4023360" cy="322118"/>
          </a:xfrm>
        </p:spPr>
        <p:txBody>
          <a:bodyPr wrap="square">
            <a:normAutofit/>
          </a:bodyPr>
          <a:lstStyle/>
          <a:p>
            <a:r>
              <a:rPr lang="en-US" sz="2400" b="1"/>
              <a:t>Main areas</a:t>
            </a:r>
          </a:p>
        </p:txBody>
      </p:sp>
      <p:sp>
        <p:nvSpPr>
          <p:cNvPr id="4" name="Content"/>
          <p:cNvSpPr/>
          <p:nvPr/>
        </p:nvSpPr>
        <p:spPr>
          <a:xfrm>
            <a:off x="457200" y="1545647"/>
            <a:ext cx="4023360" cy="1449531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`Agent/`</a:t>
            </a:r>
          </a:p>
          <a:p>
            <a:pPr marL="342900" indent="-342900"/>
            <a:r>
              <a:rPr lang="en-US"/>
              <a:t>• `Terminal/`</a:t>
            </a:r>
          </a:p>
          <a:p>
            <a:pPr marL="342900" indent="-342900"/>
            <a:r>
              <a:rPr lang="en-US"/>
              <a:t>• `Approvals/`</a:t>
            </a:r>
          </a:p>
          <a:p>
            <a:pPr marL="342900" indent="-342900"/>
            <a:r>
              <a:rPr lang="en-US"/>
              <a:t>• `Persistence/`</a:t>
            </a:r>
          </a:p>
          <a:p>
            <a:pPr marL="342900" indent="-342900"/>
            <a:r>
              <a:rPr lang="en-US"/>
              <a:t>• `Startup/`</a:t>
            </a:r>
          </a:p>
          <a:p>
            <a:pPr marL="342900" indent="-342900"/>
            <a:r>
              <a:rPr lang="en-US"/>
              <a:t>• `UI/`</a:t>
            </a:r>
          </a:p>
        </p:txBody>
      </p:sp>
      <p:sp>
        <p:nvSpPr>
          <p:cNvPr id="5" name="Content"/>
          <p:cNvSpPr/>
          <p:nvPr/>
        </p:nvSpPr>
        <p:spPr>
          <a:xfrm>
            <a:off x="457200" y="3075707"/>
            <a:ext cx="4023360" cy="322118"/>
          </a:xfrm>
        </p:spPr>
        <p:txBody>
          <a:bodyPr wrap="square">
            <a:normAutofit/>
          </a:bodyPr>
          <a:lstStyle/>
          <a:p>
            <a:r>
              <a:rPr lang="en-US" sz="2400" b="1"/>
              <a:t>Runtime shape</a:t>
            </a:r>
          </a:p>
        </p:txBody>
      </p:sp>
      <p:sp>
        <p:nvSpPr>
          <p:cNvPr id="6" name="Content"/>
          <p:cNvSpPr/>
          <p:nvPr/>
        </p:nvSpPr>
        <p:spPr>
          <a:xfrm>
            <a:off x="457200" y="3478354"/>
            <a:ext cx="4023360" cy="1207943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Hex1b host thread for terminal-first UI</a:t>
            </a:r>
          </a:p>
          <a:p>
            <a:pPr marL="342900" indent="-342900"/>
            <a:r>
              <a:rPr lang="en-US"/>
              <a:t>• Avalonia app for companion panel support</a:t>
            </a:r>
          </a:p>
          <a:p>
            <a:pPr marL="342900" indent="-342900"/>
            <a:r>
              <a:rPr lang="en-US"/>
              <a:t>• Session manager as the orchestration center</a:t>
            </a:r>
          </a:p>
        </p:txBody>
      </p:sp>
      <p:pic>
        <p:nvPicPr>
          <p:cNvPr id="7" name="mermaid"/>
          <p:cNvPicPr>
            <a:picLocks noChangeAspect="1"/>
          </p:cNvPicPr>
          <p:nvPr/>
        </p:nvPicPr>
        <p:blipFill>
          <a:blip r:embed="R06a422e08c3e47b2"/>
          <a:stretch>
            <a:fillRect l="0" t="0" r="0" b="0"/>
          </a:stretch>
        </p:blipFill>
        <p:spPr>
          <a:xfrm>
            <a:off x="4663440" y="1143000"/>
            <a:ext cx="4023360" cy="3543300"/>
          </a:xfrm>
          <a:prstGeom prst="rect"/>
        </p:spPr>
      </p:pic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Startup flow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2400300"/>
          </a:xfrm>
        </p:spPr>
        <p:txBody>
          <a:bodyPr wrap="square">
            <a:normAutofit/>
          </a:bodyPr>
          <a:lstStyle/>
          <a:p>
            <a:r>
              <a:rPr lang="en-US"/>
              <a:t>1. The app resolves whether it should run as the full terminal experience or as the `agt` wrapper.</a:t>
            </a:r>
          </a:p>
          <a:p>
            <a:r>
              <a:rPr lang="en-US"/>
              <a:t>2. It loads configuration and startup options.</a:t>
            </a:r>
          </a:p>
          <a:p>
            <a:r>
              <a:rPr lang="en-US"/>
              <a:t>3. It creates the terminal session.</a:t>
            </a:r>
          </a:p>
          <a:p>
            <a:r>
              <a:rPr lang="en-US"/>
              <a:t>4. It creates `CopilotAgentSessionManager`.</a:t>
            </a:r>
          </a:p>
          <a:p>
            <a:r>
              <a:rPr lang="en-US"/>
              <a:t>5. It initializes the application shell.</a:t>
            </a:r>
          </a:p>
          <a:p>
            <a:r>
              <a:rPr lang="en-US"/>
              <a:t>6. It waits for UI readiness, then starts Copilot and loads saved sessions.</a:t>
            </a: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Startup flow</a:t>
            </a:r>
          </a:p>
        </p:txBody>
      </p:sp>
      <p:pic>
        <p:nvPicPr>
          <p:cNvPr id="3" name="mermaid"/>
          <p:cNvPicPr>
            <a:picLocks noChangeAspect="1"/>
          </p:cNvPicPr>
          <p:nvPr/>
        </p:nvPicPr>
        <p:blipFill>
          <a:blip r:embed="Re304135a209244e9"/>
          <a:stretch>
            <a:fillRect l="0" t="0" r="0" b="0"/>
          </a:stretch>
        </p:blipFill>
        <p:spPr>
          <a:xfrm>
            <a:off x="457200" y="1143000"/>
            <a:ext cx="8229600" cy="1600000"/>
          </a:xfrm>
          <a:prstGeom prst="rect"/>
        </p:spPr>
      </p:pic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Prompt and approval loop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4023360" cy="322118"/>
          </a:xfrm>
        </p:spPr>
        <p:txBody>
          <a:bodyPr wrap="square">
            <a:normAutofit/>
          </a:bodyPr>
          <a:lstStyle/>
          <a:p>
            <a:r>
              <a:rPr lang="en-US" sz="2400" b="1"/>
              <a:t>Prompt path</a:t>
            </a:r>
          </a:p>
        </p:txBody>
      </p:sp>
      <p:sp>
        <p:nvSpPr>
          <p:cNvPr id="4" name="Content"/>
          <p:cNvSpPr/>
          <p:nvPr/>
        </p:nvSpPr>
        <p:spPr>
          <a:xfrm>
            <a:off x="457200" y="1545647"/>
            <a:ext cx="4023360" cy="1449531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User enters a prompt.</a:t>
            </a:r>
          </a:p>
          <a:p>
            <a:pPr marL="342900" indent="-342900"/>
            <a:r>
              <a:rPr lang="en-US"/>
              <a:t>• The session manager captures a terminal snapshot.</a:t>
            </a:r>
          </a:p>
          <a:p>
            <a:pPr marL="342900" indent="-342900"/>
            <a:r>
              <a:rPr lang="en-US"/>
              <a:t>• Prompt plus context is sent to Copilot.</a:t>
            </a:r>
          </a:p>
          <a:p>
            <a:pPr marL="342900" indent="-342900"/>
            <a:r>
              <a:rPr lang="en-US"/>
              <a:t>• Responses stream back into the conversation transcript.</a:t>
            </a:r>
          </a:p>
        </p:txBody>
      </p:sp>
      <p:sp>
        <p:nvSpPr>
          <p:cNvPr id="5" name="Content"/>
          <p:cNvSpPr/>
          <p:nvPr/>
        </p:nvSpPr>
        <p:spPr>
          <a:xfrm>
            <a:off x="457200" y="3075707"/>
            <a:ext cx="4023360" cy="322118"/>
          </a:xfrm>
        </p:spPr>
        <p:txBody>
          <a:bodyPr wrap="square">
            <a:normAutofit/>
          </a:bodyPr>
          <a:lstStyle/>
          <a:p>
            <a:r>
              <a:rPr lang="en-US" sz="2400" b="1"/>
              <a:t>Approval path</a:t>
            </a:r>
          </a:p>
        </p:txBody>
      </p:sp>
      <p:sp>
        <p:nvSpPr>
          <p:cNvPr id="6" name="Content"/>
          <p:cNvSpPr/>
          <p:nvPr/>
        </p:nvSpPr>
        <p:spPr>
          <a:xfrm>
            <a:off x="457200" y="3478354"/>
            <a:ext cx="4023360" cy="1207943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Agent proposes a shell command.</a:t>
            </a:r>
          </a:p>
          <a:p>
            <a:pPr marL="342900" indent="-342900"/>
            <a:r>
              <a:rPr lang="en-US"/>
              <a:t>• The command enters the approval queue.</a:t>
            </a:r>
          </a:p>
          <a:p>
            <a:pPr marL="342900" indent="-342900"/>
            <a:r>
              <a:rPr lang="en-US"/>
              <a:t>• The user approves or denies execution.</a:t>
            </a:r>
          </a:p>
          <a:p>
            <a:pPr marL="342900" indent="-342900"/>
            <a:r>
              <a:rPr lang="en-US"/>
              <a:t>• Approved commands run in the terminal session.</a:t>
            </a:r>
          </a:p>
        </p:txBody>
      </p:sp>
      <p:pic>
        <p:nvPicPr>
          <p:cNvPr id="7" name="mermaid"/>
          <p:cNvPicPr>
            <a:picLocks noChangeAspect="1"/>
          </p:cNvPicPr>
          <p:nvPr/>
        </p:nvPicPr>
        <p:blipFill>
          <a:blip r:embed="Rc4c7385c980d4822"/>
          <a:stretch>
            <a:fillRect l="0" t="0" r="0" b="0"/>
          </a:stretch>
        </p:blipFill>
        <p:spPr>
          <a:xfrm>
            <a:off x="4663440" y="1143000"/>
            <a:ext cx="4023360" cy="3543300"/>
          </a:xfrm>
          <a:prstGeom prst="rect"/>
        </p:spPr>
      </p:pic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Wrapper and backchannel design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685800"/>
          </a:xfrm>
        </p:spPr>
        <p:txBody>
          <a:bodyPr wrap="square">
            <a:normAutofit/>
          </a:bodyPr>
          <a:lstStyle/>
          <a:p>
            <a:r>
              <a:rPr lang="en-US"/>
              <a:t>The wrapper mode exists so the agent can run visible shell commands while still reporting lifecycle events back to the app.</a:t>
            </a:r>
          </a:p>
        </p:txBody>
      </p:sp>
      <p:sp>
        <p:nvSpPr>
          <p:cNvPr id="4" name="Content"/>
          <p:cNvSpPr/>
          <p:nvPr/>
        </p:nvSpPr>
        <p:spPr>
          <a:xfrm>
            <a:off x="457200" y="1943100"/>
            <a:ext cx="8229600" cy="17145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The wrapper executable name is short and shell-friendly: `agt`</a:t>
            </a:r>
          </a:p>
          <a:p>
            <a:pPr marL="342900" indent="-342900"/>
            <a:r>
              <a:rPr lang="en-US"/>
              <a:t>• Backchannel events are defined with protobuf</a:t>
            </a:r>
          </a:p>
          <a:p>
            <a:pPr marL="342900" indent="-342900"/>
            <a:r>
              <a:rPr lang="en-US"/>
              <a:t>• Commands can report start and completion details</a:t>
            </a:r>
          </a:p>
          <a:p>
            <a:pPr marL="342900" indent="-342900"/>
            <a:r>
              <a:rPr lang="en-US"/>
              <a:t>• Output tails can be queried later for context and diagnostics</a:t>
            </a:r>
          </a:p>
          <a:p>
            <a:pPr marL="342900" indent="-342900"/>
            <a:r>
              <a:rPr lang="en-US"/>
              <a:t>• The protocol leaves room for future expansion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Wrapper and backchannel design</a:t>
            </a:r>
          </a:p>
        </p:txBody>
      </p:sp>
      <p:pic>
        <p:nvPicPr>
          <p:cNvPr id="3" name="mermaid"/>
          <p:cNvPicPr>
            <a:picLocks noChangeAspect="1"/>
          </p:cNvPicPr>
          <p:nvPr/>
        </p:nvPicPr>
        <p:blipFill>
          <a:blip r:embed="Rae66582c6f1f4712"/>
          <a:stretch>
            <a:fillRect l="0" t="0" r="0" b="0"/>
          </a:stretch>
        </p:blipFill>
        <p:spPr>
          <a:xfrm>
            <a:off x="457200" y="1143000"/>
            <a:ext cx="8229600" cy="1600000"/>
          </a:xfrm>
          <a:prstGeom prst="rect"/>
        </p:spPr>
      </p:pic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UI model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4023360" cy="545123"/>
          </a:xfrm>
        </p:spPr>
        <p:txBody>
          <a:bodyPr wrap="square">
            <a:normAutofit/>
          </a:bodyPr>
          <a:lstStyle/>
          <a:p>
            <a:r>
              <a:rPr lang="en-US" sz="2400" b="1"/>
              <a:t>User experience</a:t>
            </a:r>
          </a:p>
        </p:txBody>
      </p:sp>
      <p:sp>
        <p:nvSpPr>
          <p:cNvPr id="4" name="Content"/>
          <p:cNvSpPr/>
          <p:nvPr/>
        </p:nvSpPr>
        <p:spPr>
          <a:xfrm>
            <a:off x="457200" y="1824403"/>
            <a:ext cx="4023360" cy="2861896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Terminal pane on the left</a:t>
            </a:r>
          </a:p>
          <a:p>
            <a:pPr marL="342900" indent="-342900"/>
            <a:r>
              <a:rPr lang="en-US"/>
              <a:t>• Agent interaction pane on the right</a:t>
            </a:r>
          </a:p>
          <a:p>
            <a:pPr marL="342900" indent="-342900"/>
            <a:r>
              <a:rPr lang="en-US"/>
              <a:t>• Function-key shortcuts for terminal-safe global actions</a:t>
            </a:r>
          </a:p>
          <a:p>
            <a:pPr marL="342900" indent="-342900"/>
            <a:r>
              <a:rPr lang="en-US"/>
              <a:t>• Compact approval and status text</a:t>
            </a:r>
          </a:p>
          <a:p>
            <a:pPr marL="342900" indent="-342900"/>
            <a:r>
              <a:rPr lang="en-US"/>
              <a:t>• Session list and model picker integrated into the shell UI</a:t>
            </a:r>
          </a:p>
        </p:txBody>
      </p:sp>
      <p:sp>
        <p:nvSpPr>
          <p:cNvPr id="5" name="Content"/>
          <p:cNvSpPr/>
          <p:nvPr/>
        </p:nvSpPr>
        <p:spPr>
          <a:xfrm>
            <a:off x="4663440" y="1143000"/>
            <a:ext cx="4023360" cy="472440"/>
          </a:xfrm>
        </p:spPr>
        <p:txBody>
          <a:bodyPr wrap="square">
            <a:normAutofit/>
          </a:bodyPr>
          <a:lstStyle/>
          <a:p>
            <a:r>
              <a:rPr lang="en-US" sz="2400" b="1"/>
              <a:t>Technology choices</a:t>
            </a:r>
          </a:p>
        </p:txBody>
      </p:sp>
      <p:sp>
        <p:nvSpPr>
          <p:cNvPr id="6" name="Content"/>
          <p:cNvSpPr/>
          <p:nvPr/>
        </p:nvSpPr>
        <p:spPr>
          <a:xfrm>
            <a:off x="4663440" y="1733550"/>
            <a:ext cx="4023360" cy="212598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.NET 10</a:t>
            </a:r>
          </a:p>
          <a:p>
            <a:pPr marL="342900" indent="-342900"/>
            <a:r>
              <a:rPr lang="en-US"/>
              <a:t>• Hex1b for terminal-style UI</a:t>
            </a:r>
          </a:p>
          <a:p>
            <a:pPr marL="342900" indent="-342900"/>
            <a:r>
              <a:rPr lang="en-US"/>
              <a:t>• Avalonia for companion UI pieces</a:t>
            </a:r>
          </a:p>
          <a:p>
            <a:pPr marL="342900" indent="-342900"/>
            <a:r>
              <a:rPr lang="en-US"/>
              <a:t>• `GitHub.Copilot.SDK` for agent integration</a:t>
            </a:r>
          </a:p>
          <a:p>
            <a:pPr marL="342900" indent="-342900"/>
            <a:r>
              <a:rPr lang="en-US"/>
              <a:t>• PTY-backed terminal session support</a:t>
            </a:r>
          </a:p>
        </p:txBody>
      </p:sp>
      <p:sp>
        <p:nvSpPr>
          <p:cNvPr id="7" name="Content"/>
          <p:cNvSpPr/>
          <p:nvPr/>
        </p:nvSpPr>
        <p:spPr>
          <a:xfrm>
            <a:off x="4663440" y="3977640"/>
            <a:ext cx="4023360" cy="708660"/>
          </a:xfrm>
        </p:spPr>
        <p:txBody>
          <a:bodyPr wrap="square">
            <a:normAutofit/>
          </a:bodyPr>
          <a:lstStyle/>
          <a:p>
            <a:r>
              <a:rPr lang="en-US"/>
              <a:t>&gt; The project favors terminal-native interaction over fake modal dialogs.</a:t>
            </a: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Persistence and test strategy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4023360" cy="345687"/>
          </a:xfrm>
        </p:spPr>
        <p:txBody>
          <a:bodyPr wrap="square">
            <a:normAutofit/>
          </a:bodyPr>
          <a:lstStyle/>
          <a:p>
            <a:r>
              <a:rPr lang="en-US" sz="2400" b="1"/>
              <a:t>Persistence</a:t>
            </a:r>
          </a:p>
        </p:txBody>
      </p:sp>
      <p:sp>
        <p:nvSpPr>
          <p:cNvPr id="4" name="Content"/>
          <p:cNvSpPr/>
          <p:nvPr/>
        </p:nvSpPr>
        <p:spPr>
          <a:xfrm>
            <a:off x="457200" y="1575108"/>
            <a:ext cx="4023360" cy="1555595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Conversations are stored as saved sessions.</a:t>
            </a:r>
          </a:p>
          <a:p>
            <a:pPr marL="342900" indent="-342900"/>
            <a:r>
              <a:rPr lang="en-US"/>
              <a:t>• Existing sessions are loaded during startup.</a:t>
            </a:r>
          </a:p>
          <a:p>
            <a:pPr marL="342900" indent="-342900"/>
            <a:r>
              <a:rPr lang="en-US"/>
              <a:t>• Session summaries support quick reopening.</a:t>
            </a:r>
          </a:p>
        </p:txBody>
      </p:sp>
      <p:sp>
        <p:nvSpPr>
          <p:cNvPr id="5" name="Content"/>
          <p:cNvSpPr/>
          <p:nvPr/>
        </p:nvSpPr>
        <p:spPr>
          <a:xfrm>
            <a:off x="457200" y="3217124"/>
            <a:ext cx="4023360" cy="345687"/>
          </a:xfrm>
        </p:spPr>
        <p:txBody>
          <a:bodyPr wrap="square">
            <a:normAutofit/>
          </a:bodyPr>
          <a:lstStyle/>
          <a:p>
            <a:r>
              <a:rPr lang="en-US" sz="2400" b="1"/>
              <a:t>Observability</a:t>
            </a:r>
          </a:p>
        </p:txBody>
      </p:sp>
      <p:sp>
        <p:nvSpPr>
          <p:cNvPr id="6" name="Content"/>
          <p:cNvSpPr/>
          <p:nvPr/>
        </p:nvSpPr>
        <p:spPr>
          <a:xfrm>
            <a:off x="457200" y="3649232"/>
            <a:ext cx="4023360" cy="1037063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Prompt timing is tracked.</a:t>
            </a:r>
          </a:p>
          <a:p>
            <a:pPr marL="342900" indent="-342900"/>
            <a:r>
              <a:rPr lang="en-US"/>
              <a:t>• Tool activity is surfaced.</a:t>
            </a:r>
          </a:p>
          <a:p>
            <a:pPr marL="342900" indent="-342900"/>
            <a:r>
              <a:rPr lang="en-US"/>
              <a:t>• Smoke-test mode validates startup and basic agent behavior.</a:t>
            </a:r>
          </a:p>
        </p:txBody>
      </p:sp>
      <p:sp>
        <p:nvSpPr>
          <p:cNvPr id="7" name="Content"/>
          <p:cNvSpPr/>
          <p:nvPr/>
        </p:nvSpPr>
        <p:spPr>
          <a:xfrm>
            <a:off x="4663440" y="1143000"/>
            <a:ext cx="4023360" cy="545123"/>
          </a:xfrm>
        </p:spPr>
        <p:txBody>
          <a:bodyPr wrap="square">
            <a:normAutofit/>
          </a:bodyPr>
          <a:lstStyle/>
          <a:p>
            <a:r>
              <a:rPr lang="en-US" sz="2400" b="1"/>
              <a:t>Testing</a:t>
            </a:r>
          </a:p>
        </p:txBody>
      </p:sp>
      <p:sp>
        <p:nvSpPr>
          <p:cNvPr id="8" name="Content"/>
          <p:cNvSpPr/>
          <p:nvPr/>
        </p:nvSpPr>
        <p:spPr>
          <a:xfrm>
            <a:off x="4663440" y="1824403"/>
            <a:ext cx="4023360" cy="2861896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xUnit test project</a:t>
            </a:r>
          </a:p>
          <a:p>
            <a:pPr marL="342900" indent="-342900"/>
            <a:r>
              <a:rPr lang="en-US"/>
              <a:t>• terminal capture parsing tests</a:t>
            </a:r>
          </a:p>
          <a:p>
            <a:pPr marL="342900" indent="-342900"/>
            <a:r>
              <a:rPr lang="en-US"/>
              <a:t>• PTY integration tests with a fake host</a:t>
            </a:r>
          </a:p>
          <a:p>
            <a:pPr marL="342900" indent="-342900"/>
            <a:r>
              <a:rPr lang="en-US"/>
              <a:t>• startup and configuration tests</a:t>
            </a:r>
          </a:p>
          <a:p>
            <a:pPr marL="342900" indent="-342900"/>
            <a:r>
              <a:rPr lang="en-US"/>
              <a:t>• persistence tests</a:t>
            </a:r>
          </a:p>
          <a:p>
            <a:pPr marL="342900" indent="-342900"/>
            <a:r>
              <a:rPr lang="en-US"/>
              <a:t>• UI formatting tests</a:t>
            </a:r>
          </a:p>
          <a:p>
            <a:pPr marL="342900" indent="-342900"/>
            <a:r>
              <a:rPr lang="en-US"/>
              <a:t>• interaction automation tests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Interesting .NET choices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20574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Uses `net10.0` and modern C# features.</a:t>
            </a:r>
          </a:p>
          <a:p>
            <a:pPr marL="342900" indent="-342900"/>
            <a:r>
              <a:rPr lang="en-US"/>
              <a:t>• Blends terminal UI and desktop UI in one application.</a:t>
            </a:r>
          </a:p>
          <a:p>
            <a:pPr marL="342900" indent="-342900"/>
            <a:r>
              <a:rPr lang="en-US"/>
              <a:t>• Uses async orchestration heavily across startup, prompts, approvals, and terminal execution.</a:t>
            </a:r>
          </a:p>
          <a:p>
            <a:pPr marL="342900" indent="-342900"/>
            <a:r>
              <a:rPr lang="en-US"/>
              <a:t>• Uses generated protobuf types for the command backchannel.</a:t>
            </a:r>
          </a:p>
          <a:p>
            <a:pPr marL="342900" indent="-342900"/>
            <a:r>
              <a:rPr lang="en-US"/>
              <a:t>• Keeps the domain split into focused folders rather than one large service class.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Interesting .NET choices</a:t>
            </a:r>
          </a:p>
        </p:txBody>
      </p:sp>
      <p:sp>
        <p:nvSpPr>
          <p:cNvPr id="3" name="CodeBlock"/>
          <p:cNvSpPr/>
          <p:nvPr/>
        </p:nvSpPr>
        <p:spPr>
          <a:xfrm>
            <a:off x="457200" y="1143000"/>
            <a:ext cx="8229600" cy="3086100"/>
          </a:xfrm>
          <a:prstGeom prst="rect"/>
          <a:solidFill>
            <a:srgbClr val="F2F2F2"/>
          </a:solidFill>
        </p:spPr>
        <p:txBody>
          <a:bodyPr wrap="square" lIns="182880" tIns="91440" rIns="182880" bIns="91440" anchor="t">
            <a:noAutofit/>
          </a:bodyPr>
          <a:lstStyle>
            <a:def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defPPr>
          </a:lstStyle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latin typeface="Consolas"/>
              </a:rPr>
              <a:t>await using var sessionManager = new CopilotAgentSessionManager(
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approvalQueue,
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conversationSessionStore,
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terminalSession,
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Environment.CurrentDirectory,
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options.CopilotModel,
</a:t>
            </a:r>
            <a:br>
              <a:rPr lang="en-US" sz="1400" dirty="0">
                <a:latin typeface="Consolas"/>
              </a:rPr>
            </a:br>
            <a:r>
              <a:rPr lang="en-US" sz="1400" dirty="0">
                <a:latin typeface="Consolas"/>
              </a:rPr>
              <a:t>    new CopilotSessionOptions(...));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100"/>
              <a:t>Current challenges and lessons learned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27432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Terminal-first UX is powerful, but cross-thread UI updates require discipline.</a:t>
            </a:r>
          </a:p>
          <a:p>
            <a:pPr marL="342900" indent="-342900"/>
            <a:r>
              <a:rPr lang="en-US"/>
              <a:t>• Input handling is harder than it looks, especially around dead keys and composed input.</a:t>
            </a:r>
          </a:p>
          <a:p>
            <a:pPr marL="342900" indent="-342900"/>
            <a:r>
              <a:rPr lang="en-US"/>
              <a:t>• Approval UX must stay fast without hiding important command details.</a:t>
            </a:r>
          </a:p>
          <a:p>
            <a:pPr marL="342900" indent="-342900"/>
            <a:r>
              <a:rPr lang="en-US"/>
              <a:t>• AI integration needs strong fallback paths, timeouts, and transparent status text.</a:t>
            </a:r>
          </a:p>
          <a:p>
            <a:pPr marL="342900" indent="-342900"/>
            <a:r>
              <a:rPr lang="en-US"/>
              <a:t>• Testability improves when terminal, persistence, and startup concerns are abstracted early.</a:t>
            </a: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Where this could go next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20574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Richer REPL-style history interaction</a:t>
            </a:r>
          </a:p>
          <a:p>
            <a:pPr marL="342900" indent="-342900"/>
            <a:r>
              <a:rPr lang="en-US"/>
              <a:t>• More polished model selection and quota insights</a:t>
            </a:r>
          </a:p>
          <a:p>
            <a:pPr marL="342900" indent="-342900"/>
            <a:r>
              <a:rPr lang="en-US"/>
              <a:t>• Expanded backchannel protocol for pipeline reporting</a:t>
            </a:r>
          </a:p>
          <a:p>
            <a:pPr marL="342900" indent="-342900"/>
            <a:r>
              <a:rPr lang="en-US"/>
              <a:t>• Better diagnostics around terminal and agent timing</a:t>
            </a:r>
          </a:p>
          <a:p>
            <a:pPr marL="342900" indent="-342900"/>
            <a:r>
              <a:rPr lang="en-US"/>
              <a:t>• More cross-platform terminal hosting options</a:t>
            </a:r>
          </a:p>
          <a:p>
            <a:pPr marL="342900" indent="-342900"/>
            <a:r>
              <a:rPr lang="en-US"/>
              <a:t>• Packaging for easier community adoption</a:t>
            </a: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Takeaways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2057400"/>
          </a:xfrm>
        </p:spPr>
        <p:txBody>
          <a:bodyPr wrap="square">
            <a:normAutofit/>
          </a:bodyPr>
          <a:lstStyle/>
          <a:p>
            <a:pPr marL="342900" indent="-342900"/>
            <a:r>
              <a:rPr lang="en-US"/>
              <a:t>• AI workflows get better when they stay close to the developer's real environment.</a:t>
            </a:r>
          </a:p>
          <a:p>
            <a:pPr marL="342900" indent="-342900"/>
            <a:r>
              <a:rPr lang="en-US"/>
              <a:t>• .NET is a strong fit for combining terminal integration, desktop UI, async orchestration, and testing.</a:t>
            </a:r>
          </a:p>
          <a:p>
            <a:pPr marL="342900" indent="-342900"/>
            <a:r>
              <a:rPr lang="en-US"/>
              <a:t>• AgenticTerminal is a practical experiment in keeping humans in control while still benefiting from agent assistance.</a:t>
            </a:r>
          </a:p>
        </p:txBody>
      </p:sp>
      <p:sp>
        <p:nvSpPr>
          <p:cNvPr id="4" name="Content"/>
          <p:cNvSpPr/>
          <p:nvPr/>
        </p:nvSpPr>
        <p:spPr>
          <a:xfrm>
            <a:off x="457200" y="3314700"/>
            <a:ext cx="8229600" cy="342900"/>
          </a:xfrm>
        </p:spPr>
        <p:txBody>
          <a:bodyPr wrap="square">
            <a:normAutofit/>
          </a:bodyPr>
          <a:lstStyle/>
          <a:p>
            <a:r>
              <a:rPr lang="en-US"/>
              <a:t>Thank you.</a:t>
            </a:r>
          </a:p>
        </p:txBody>
      </p:sp>
      <p:sp>
        <p:nvSpPr>
          <p:cNvPr id="5" name="Content"/>
          <p:cNvSpPr/>
          <p:nvPr/>
        </p:nvSpPr>
        <p:spPr>
          <a:xfrm>
            <a:off x="457200" y="3771900"/>
            <a:ext cx="8229600" cy="457200"/>
          </a:xfrm>
        </p:spPr>
        <p:txBody>
          <a:bodyPr wrap="square">
            <a:normAutofit/>
          </a:bodyPr>
          <a:lstStyle/>
          <a:p>
            <a:r>
              <a:rPr lang="en-US" sz="2400" b="1"/>
              <a:t>Discussion topics</a:t>
            </a: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3600"/>
              <a:t>Takeaways</a:t>
            </a:r>
          </a:p>
        </p:txBody>
      </p:sp>
      <p:sp>
        <p:nvSpPr>
          <p:cNvPr id="3" name="Content"/>
          <p:cNvSpPr/>
          <p:nvPr/>
        </p:nvSpPr>
        <p:spPr>
          <a:xfrm>
            <a:off x="457200" y="1143000"/>
            <a:ext cx="8229600" cy="1028700"/>
          </a:xfrm>
        </p:spPr>
        <p:txBody>
          <a:bodyPr wrap="square">
            <a:normAutofit/>
          </a:bodyPr>
          <a:lstStyle/>
          <a:p>
            <a:r>
              <a:rPr lang="en-US"/>
              <a:t>1. How much approval should an agent need?</a:t>
            </a:r>
          </a:p>
          <a:p>
            <a:r>
              <a:rPr lang="en-US"/>
              <a:t>2. What makes a terminal-native AI UX feel trustworthy?</a:t>
            </a:r>
          </a:p>
          <a:p>
            <a:r>
              <a:rPr lang="en-US"/>
              <a:t>3. Where would you take this architecture next?</a:t>
            </a:r>
          </a:p>
        </p:txBody>
      </p:sp>
    </p:spTree>
  </p:cSld>
  <p:clrMapOvr>
    <a:masterClrMapping/>
  </p:clrMapOvr>
  <p:transition>
    <p:random/>
  </p:transition>
</p:sld>
</file>